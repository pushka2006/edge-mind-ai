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Arial"/>
              </a:defRPr>
            </a:pPr>
            <a:r>
              <a:t>ENTERPRISE OFFLINE-FIRST AI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EDGE 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6B6D4"/>
                </a:solidFill>
                <a:latin typeface="Arial"/>
              </a:defRPr>
            </a:pPr>
            <a:r>
              <a:t>AI-Powered Edge Memory &amp; Intelligence Platform</a:t>
            </a:r>
            <a:br/>
            <a:r>
              <a:t>Local Intelligence • Persistent Vector Memory • Cloud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931920"/>
            <a:ext cx="2103120" cy="548640"/>
          </a:xfrm>
          <a:prstGeom prst="roundRect">
            <a:avLst/>
          </a:prstGeom>
          <a:solidFill>
            <a:srgbClr val="172135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Sub-5ms Vector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931920"/>
            <a:ext cx="2103120" cy="548640"/>
          </a:xfrm>
          <a:prstGeom prst="roundRect">
            <a:avLst/>
          </a:prstGeom>
          <a:solidFill>
            <a:srgbClr val="172135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100% Offline Autonomy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2103120" cy="548640"/>
          </a:xfrm>
          <a:prstGeom prst="roundRect">
            <a:avLst/>
          </a:prstGeom>
          <a:solidFill>
            <a:srgbClr val="172135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Priority Delta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931920"/>
            <a:ext cx="2103120" cy="548640"/>
          </a:xfrm>
          <a:prstGeom prst="roundRect">
            <a:avLst/>
          </a:prstGeom>
          <a:solidFill>
            <a:srgbClr val="172135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Multi-Master Consensus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Pushkar  |  GitHub: https://github.com/pushka2006/edge-mind-ai  |  Production Release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Executive Overview: Autonomous Edge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2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CORE VALUE PROPOSITION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The Cloud Latency Wall: </a:t>
            </a:r>
            <a:r>
              <a:rPr sz="1050">
                <a:solidFill>
                  <a:srgbClr val="94A3B8"/>
                </a:solidFill>
              </a:rPr>
              <a:t>Standard cloud LLM queries incur 200ms-2s roundtrip delays, choking industrial robots and CNC controllers.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Embedded Vector Engine: </a:t>
            </a:r>
            <a:r>
              <a:rPr sz="1050">
                <a:solidFill>
                  <a:srgbClr val="94A3B8"/>
                </a:solidFill>
              </a:rPr>
              <a:t>On-device 128-dimensional dense vector indexing delivers &lt;5ms local retrieval with zero cloud dependency.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Resilient Operation: </a:t>
            </a:r>
            <a:r>
              <a:rPr sz="1050">
                <a:solidFill>
                  <a:srgbClr val="94A3B8"/>
                </a:solidFill>
              </a:rPr>
              <a:t>When connectivity drops, EdgeMind AI captures telemetry, resolves queries, and accumulates a priority sync queue.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Live Operational Telemetry: </a:t>
            </a:r>
            <a:r>
              <a:rPr sz="1050">
                <a:solidFill>
                  <a:srgbClr val="94A3B8"/>
                </a:solidFill>
              </a:rPr>
              <a:t>Active tracking of 520 memories, 5 edge devices, and real-time sync health across the entire fleet.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_overview_1790424076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Offline-First Resilience: Zero Cloud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3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OFFLINE SIMULATION &amp; BUFFERING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Simulate Offline Mode Toggle: </a:t>
            </a:r>
            <a:r>
              <a:rPr sz="1050">
                <a:solidFill>
                  <a:srgbClr val="94A3B8"/>
                </a:solidFill>
              </a:rPr>
              <a:t>1-click interactive switch in the top navigation bar immediately isolates the edge node from cloud APIs.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Zero Degradation: </a:t>
            </a:r>
            <a:r>
              <a:rPr sz="1050">
                <a:solidFill>
                  <a:srgbClr val="94A3B8"/>
                </a:solidFill>
              </a:rPr>
              <a:t>Edge vector search, memory generation, and EdgeMind local AI assistant continue functioning with 100% capacity.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Delta Queue Accumulation: </a:t>
            </a:r>
            <a:r>
              <a:rPr sz="1050">
                <a:solidFill>
                  <a:srgbClr val="94A3B8"/>
                </a:solidFill>
              </a:rPr>
              <a:t>New memories are staged in a local prioritized sync buffer (CRITICAL, HIGH, NORMAL).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Automatic Reconnection: </a:t>
            </a:r>
            <a:r>
              <a:rPr sz="1050">
                <a:solidFill>
                  <a:srgbClr val="94A3B8"/>
                </a:solidFill>
              </a:rPr>
              <a:t>Restoring network triggers instant cryptographic payload verification and background delta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fline_mode_active_1790424114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Memory Inspector: High-Dimensional Vector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4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VECTOR STORAGE ARCHITECTURE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128-Dim Dense Embeddings: </a:t>
            </a:r>
            <a:r>
              <a:rPr sz="1050">
                <a:solidFill>
                  <a:srgbClr val="94A3B8"/>
                </a:solidFill>
              </a:rPr>
              <a:t>Custom on-device vector generation optimized for machine telemetry, vibrational signatures, and logs.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Memory Inspector Modal: </a:t>
            </a:r>
            <a:r>
              <a:rPr sz="1050">
                <a:solidFill>
                  <a:srgbClr val="94A3B8"/>
                </a:solidFill>
              </a:rPr>
              <a:t>Engineers can inspect raw vector floats, cosine bounds, timestamp provenance, and hardware tags.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Cryptographic Integrity: </a:t>
            </a:r>
            <a:r>
              <a:rPr sz="1050">
                <a:solidFill>
                  <a:srgbClr val="94A3B8"/>
                </a:solidFill>
              </a:rPr>
              <a:t>Every memory block is sealed with SHA-256 integrity hashes to guarantee tamper detection.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Version History Snapshots: </a:t>
            </a:r>
            <a:r>
              <a:rPr sz="1050">
                <a:solidFill>
                  <a:srgbClr val="94A3B8"/>
                </a:solidFill>
              </a:rPr>
              <a:t>Full immutable chain-of-custody tracking reviewer changes, AI modifications, and sensor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mory_inspector_modal_1790424225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Hybrid Retrieval: Vector Distance &amp; Keyword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5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NATURAL LANGUAGE RETRIEVAL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Natural Language Queries: </a:t>
            </a:r>
            <a:r>
              <a:rPr sz="1050">
                <a:solidFill>
                  <a:srgbClr val="94A3B8"/>
                </a:solidFill>
              </a:rPr>
              <a:t>Engineers search via plain phrases like 'spindle vibration anomaly' or 'bearing thermal spike'.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Sub-3ms Local Matching: </a:t>
            </a:r>
            <a:r>
              <a:rPr sz="1050">
                <a:solidFill>
                  <a:srgbClr val="94A3B8"/>
                </a:solidFill>
              </a:rPr>
              <a:t>On-device cosine distance scoring computes similarity in real-time without sending packets to the cloud.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Match Confidence Scoring: </a:t>
            </a:r>
            <a:r>
              <a:rPr sz="1050">
                <a:solidFill>
                  <a:srgbClr val="94A3B8"/>
                </a:solidFill>
              </a:rPr>
              <a:t>Demonstrated similarity scores up to 98.4% ranking critical telemetry incidents at the top.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Faceted Filtering: </a:t>
            </a:r>
            <a:r>
              <a:rPr sz="1050">
                <a:solidFill>
                  <a:srgbClr val="94A3B8"/>
                </a:solidFill>
              </a:rPr>
              <a:t>Filter instantly by device ID (DEV-001), severity class (ANOMALY, WARNING), or synchronization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mantic_search_results_1790424451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Conflict Center: Multi-Master State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6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SIDE-BY-SIDE CONSENSUS DIFFING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Network Partition Divergence: </a:t>
            </a:r>
            <a:r>
              <a:rPr sz="1050">
                <a:solidFill>
                  <a:srgbClr val="94A3B8"/>
                </a:solidFill>
              </a:rPr>
              <a:t>Identifies records modified concurrently at the edge device and cloud server during an outage.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3-Way Visual Diffing: </a:t>
            </a:r>
            <a:r>
              <a:rPr sz="1050">
                <a:solidFill>
                  <a:srgbClr val="94A3B8"/>
                </a:solidFill>
              </a:rPr>
              <a:t>Clear inspection panel displaying Local Edge state, Cloud Server state, and AI Synthesized preview.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Strategy 1: Keep Local: </a:t>
            </a:r>
            <a:r>
              <a:rPr sz="1050">
                <a:solidFill>
                  <a:srgbClr val="94A3B8"/>
                </a:solidFill>
              </a:rPr>
              <a:t>Edge hardware sensor measurements override cloud estimations.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Strategy 2: Keep Cloud: </a:t>
            </a:r>
            <a:r>
              <a:rPr sz="1050">
                <a:solidFill>
                  <a:srgbClr val="94A3B8"/>
                </a:solidFill>
              </a:rPr>
              <a:t>Enterprise-wide configuration parameters override edge modifications.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</a:rPr>
              <a:t>✔ Strategy 3: AI Synthesis: </a:t>
            </a:r>
            <a:r>
              <a:rPr sz="1050">
                <a:solidFill>
                  <a:srgbClr val="94A3B8"/>
                </a:solidFill>
              </a:rPr>
              <a:t>EdgeMind LLM merges sensor telemetry with cloud work order notes into an authoritative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flict_center_diff_1790424526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Conversational AI: Offline RAG with Memory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7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LOCAL ON-DEVICE RAG ENGINE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Grounded Answers: </a:t>
            </a:r>
            <a:r>
              <a:rPr sz="1050">
                <a:solidFill>
                  <a:srgbClr val="94A3B8"/>
                </a:solidFill>
              </a:rPr>
              <a:t>Synthesizes natural language explanations using exclusively locally indexed vector memories.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Verifiable Citations: </a:t>
            </a:r>
            <a:r>
              <a:rPr sz="1050">
                <a:solidFill>
                  <a:srgbClr val="94A3B8"/>
                </a:solidFill>
              </a:rPr>
              <a:t>Every assertion links directly to memory IDs (e.g., [M-1024], [M-1026]) eliminating hallucinations.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Industrial Diagnostic Assistance: </a:t>
            </a:r>
            <a:r>
              <a:rPr sz="1050">
                <a:solidFill>
                  <a:srgbClr val="94A3B8"/>
                </a:solidFill>
              </a:rPr>
              <a:t>Explains complex operational incidents like high-torque milling anomalies and bearing temperatures.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Edge Model Routing: </a:t>
            </a:r>
            <a:r>
              <a:rPr sz="1050">
                <a:solidFill>
                  <a:srgbClr val="94A3B8"/>
                </a:solidFill>
              </a:rPr>
              <a:t>Uses EdgeMind-Nano-8B locally and seamlessly switches to Titan-Cloud when high-capacity uplinks are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gemind_ai_chat_response_1790424678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Fleet Management: Multi-Device Telemetry &amp;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8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FLEET TELEMETRY MATRIX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Multi-Device Fleet Coverage: </a:t>
            </a:r>
            <a:r>
              <a:rPr sz="1000">
                <a:solidFill>
                  <a:srgbClr val="94A3B8"/>
                </a:solidFill>
              </a:rPr>
              <a:t>Real-time health monitoring across 5 representative edge industrial node form factors: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DEV-001 (Machine Edge #01): </a:t>
            </a:r>
            <a:r>
              <a:rPr sz="1000">
                <a:solidFill>
                  <a:srgbClr val="94A3B8"/>
                </a:solidFill>
              </a:rPr>
              <a:t>CNC 5-Axis Milling Cell monitoring vibrations &amp; thermals.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DEV-002 (Robotic Arm #04): </a:t>
            </a:r>
            <a:r>
              <a:rPr sz="1000">
                <a:solidFill>
                  <a:srgbClr val="94A3B8"/>
                </a:solidFill>
              </a:rPr>
              <a:t>Assembly robotics tracking joint torque and encoder logs.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DEV-003 (Smart Kiosk #02): </a:t>
            </a:r>
            <a:r>
              <a:rPr sz="1000">
                <a:solidFill>
                  <a:srgbClr val="94A3B8"/>
                </a:solidFill>
              </a:rPr>
              <a:t>Public interactive point-of-service node.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DEV-004 (Autonomous Drone #09): </a:t>
            </a:r>
            <a:r>
              <a:rPr sz="1000">
                <a:solidFill>
                  <a:srgbClr val="94A3B8"/>
                </a:solidFill>
              </a:rPr>
              <a:t>Tactical inspection aerial drone with intermittent radio.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</a:rPr>
              <a:t>• DEV-005 (Sensor Hub #07): </a:t>
            </a:r>
            <a:r>
              <a:rPr sz="1000">
                <a:solidFill>
                  <a:srgbClr val="94A3B8"/>
                </a:solidFill>
              </a:rPr>
              <a:t>Environmental telemetry array logging ambient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ge_devices_fleet_1790424770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Memory Graph: Interactive Node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9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KNOWLEDGE TOPOLOGY MAPPING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Relational Visual Mapping: </a:t>
            </a:r>
            <a:r>
              <a:rPr sz="1050">
                <a:solidFill>
                  <a:srgbClr val="94A3B8"/>
                </a:solidFill>
              </a:rPr>
              <a:t>Connects edge machine components to sensor anomalies, diagnostic classifications, and cloud replicas.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Physics-Based Interaction: </a:t>
            </a:r>
            <a:r>
              <a:rPr sz="1050">
                <a:solidFill>
                  <a:srgbClr val="94A3B8"/>
                </a:solidFill>
              </a:rPr>
              <a:t>Dynamic force-directed graph with drag-and-drop nodes, zoom, and component grouping.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Incident Traceability: </a:t>
            </a:r>
            <a:r>
              <a:rPr sz="1050">
                <a:solidFill>
                  <a:srgbClr val="94A3B8"/>
                </a:solidFill>
              </a:rPr>
              <a:t>Trace how a spindle bearing overheating event links to maintenance work orders and resolution memos.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• Cross-Cluster Replication: </a:t>
            </a:r>
            <a:r>
              <a:rPr sz="1050">
                <a:solidFill>
                  <a:srgbClr val="94A3B8"/>
                </a:solidFill>
              </a:rPr>
              <a:t>Highlights which nodes are synchronized to central Qdrant and which remain locally buffered.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mory_graph_topology_1790424835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Verification Workflow: 11-Step Live Edge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10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BENCHMARKS &amp; VERIFIED METRICS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Sub-5ms Vector Recall: </a:t>
            </a:r>
            <a:r>
              <a:rPr sz="1050">
                <a:solidFill>
                  <a:srgbClr val="94A3B8"/>
                </a:solidFill>
              </a:rPr>
              <a:t>Local 128-dim cosine distance lookup executes in &lt;4.8ms average latency on edge hardware.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84% Bandwidth Savings: </a:t>
            </a:r>
            <a:r>
              <a:rPr sz="1050">
                <a:solidFill>
                  <a:srgbClr val="94A3B8"/>
                </a:solidFill>
              </a:rPr>
              <a:t>Priority delta streaming transfers only changed vector diffs rather than full payload retransmissions.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100% Offline Uptime: </a:t>
            </a:r>
            <a:r>
              <a:rPr sz="1050">
                <a:solidFill>
                  <a:srgbClr val="94A3B8"/>
                </a:solidFill>
              </a:rPr>
              <a:t>Zero failure or query timeouts during simulated satellite network severance.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</a:rPr>
              <a:t>✔ 11-Step Interactive Walkthrough: </a:t>
            </a:r>
            <a:r>
              <a:rPr sz="1050">
                <a:solidFill>
                  <a:srgbClr val="94A3B8"/>
                </a:solidFill>
              </a:rPr>
              <a:t>Simulates baseline setup, thermal spikes, offline capture, cloud conflict, and AI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243584"/>
            <a:ext cx="5742432" cy="4919472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27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ge_demo_step_3_17904249595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EDGE MIND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Enterprise Governance &amp; Deployment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EDGE MIND AI  |  AI-Powered Edge Memory &amp; Intelligence Platform  |  Slide 11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280160"/>
            <a:ext cx="9997135" cy="4846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235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HARDWARE-ENCLAVE SECURITY &amp; ROADMAP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• Hardware-Enclave AES-256: </a:t>
            </a:r>
            <a:r>
              <a:rPr sz="1100">
                <a:solidFill>
                  <a:srgbClr val="94A3B8"/>
                </a:solidFill>
              </a:rPr>
              <a:t>All on-device memory stores and vector files are encrypted at rest using TPM-bound keys.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• Air-Gapped Compliance: </a:t>
            </a:r>
            <a:r>
              <a:rPr sz="1100">
                <a:solidFill>
                  <a:srgbClr val="94A3B8"/>
                </a:solidFill>
              </a:rPr>
              <a:t>LOCAL_ONLY security policies ensure defense and medical records never egress physical hardware boundaries.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• Production Technology Stack: </a:t>
            </a:r>
            <a:r>
              <a:rPr sz="1100">
                <a:solidFill>
                  <a:srgbClr val="94A3B8"/>
                </a:solidFill>
              </a:rPr>
              <a:t>Next.js 16, React 19, TypeScript, Qdrant Vector Engine, Recharts, and Tailwind CSS v4.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• Ready for Production Deployment: </a:t>
            </a:r>
            <a:r>
              <a:rPr sz="1100">
                <a:solidFill>
                  <a:srgbClr val="94A3B8"/>
                </a:solidFill>
              </a:rPr>
              <a:t>Deployable via lightweight Docker containers on Raspberry Pi 5, Jetson Orin, or Snapdragon PCs.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8FAFC"/>
                </a:solidFill>
              </a:rPr>
              <a:t>• GitHub Repository: </a:t>
            </a:r>
            <a:r>
              <a:rPr sz="1100">
                <a:solidFill>
                  <a:srgbClr val="94A3B8"/>
                </a:solidFill>
              </a:rPr>
              <a:t>Complete source code, documentation, and deployment guides available at https://github.com/pushka2006/edge-mind-ai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